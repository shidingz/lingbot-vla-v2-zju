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数据与口径：</a:t>
            </a:r>
          </a:p>
          <a:p>
            <a:r>
              <a:t>- 本页是单次现场快照，详细原始采样保存在同目录 metrics_snapshot.json。</a:t>
            </a:r>
          </a:p>
          <a:p>
            <a:r>
              <a:t>- TRAIN_EXPERT_ONLY=true；动作专家之外，状态/动作投影、深度/视频查询、共享投影与对齐头仍可训练。</a:t>
            </a:r>
          </a:p>
          <a:p>
            <a:r>
              <a:t>- VLM 参数冻结不代表全程 no_grad；辅助教师冻结，但继续前向提供监督。</a:t>
            </a:r>
          </a:p>
          <a:p>
            <a:r>
              <a:t>- 1 epoch，5717 updates；8 cards，microbatch 12，gradient_accumulation_steps 1，全局 batch 96。</a:t>
            </a:r>
          </a:p>
          <a:p>
            <a:r>
              <a:t>- Muon，weight_decay 0.001；基础 LR 5e-5 到 1e-5，2% warmup=114 steps。MoE expert LR 另乘 sqrt(8)，并非所有参数都使用相同 LR。</a:t>
            </a:r>
          </a:p>
          <a:p>
            <a:r>
              <a:t>- 梯度检查点与 mixed precision 均打开；不能称为纯 FP32 训练。</a:t>
            </a:r>
          </a:p>
          <a:p>
            <a:r>
              <a:t>- 当前数据是朋友提供的 LeRobot v3 转换数据，2500 episodes、548893 frames；官方 clean 来源尚未独立确认。</a:t>
            </a:r>
          </a:p>
          <a:p>
            <a:r>
              <a:t>- 每轮末保存 checkpoint，上传至 obs://yw-2030-extern/Partner_Qin/robot_1014/robotwin_1ep_fast/，校验后清理本地。</a:t>
            </a:r>
          </a:p>
          <a:p>
            <a:r>
              <a:t>- 速度为日志时间戳间隔 / 更新数；新运行近100步、旧运行末500步，非严格控制变量基准。机器背景负载也可能影响结果。</a:t>
            </a:r>
          </a:p>
          <a:p>
            <a:r>
              <a:t>- 视频优化限定解码线程并只转换被选中的帧；不修改原始数据，已验证抽样帧逐像素一致。</a:t>
            </a:r>
          </a:p>
          <a:p>
            <a:r>
              <a:t>- 单轮/剩余时间按近期速度线性推算，未包含初始化、保存、上传和评测。</a:t>
            </a:r>
          </a:p>
          <a:p>
            <a:r>
              <a:t>- npu-smi AI Core 读数不是 MFU，不应直接等同于理论 FLOPS 利用率。显存占用不等于计算忙碌程度。</a:t>
            </a:r>
          </a:p>
          <a:p>
            <a:r>
              <a:t>- 下一步建议是待验证方向；未改变学习目标、未关闭辅助损失、未直接增加 batch 或梯度累计。</a:t>
            </a:r>
          </a:p>
          <a:p>
            <a:r>
              <a:t>- 本次生成报告没有停止或修改训练。</a:t>
            </a:r>
          </a:p>
          <a:p>
            <a:r>
              <a:t>证据：</a:t>
            </a:r>
          </a:p>
          <a:p>
            <a:r>
              <a:t>logs/robotwin_1ep_fast/lingbotvla_cli.yaml</a:t>
            </a:r>
          </a:p>
          <a:p>
            <a:r>
              <a:t>logs/robotwin_1ep_fast/preparation.json</a:t>
            </a:r>
          </a:p>
          <a:p>
            <a:r>
              <a:t>logs/robotwin_1ep_fast/previous_run_baseline.json</a:t>
            </a:r>
          </a:p>
          <a:p>
            <a:r>
              <a:t>logs/robotwin_1ep_fast/train.log</a:t>
            </a:r>
          </a:p>
          <a:p>
            <a:r>
              <a:t>logs/robotwin_1ep_fast/loss.jsonl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24128"/>
          </a:xfrm>
          <a:prstGeom prst="rect">
            <a:avLst/>
          </a:prstGeom>
          <a:solidFill>
            <a:srgbClr val="18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1375257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49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LingBot-VLA 2.0｜训练策略、速度与资源观察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3716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7E4"/>
                </a:solidFill>
                <a:latin typeface="Microsoft YaHei"/>
                <a:ea typeface="Microsoft YaHei"/>
              </a:rPr>
              <a:t>运行 robotwin_1ep_fast  ·  RoboTwin：50 任务 × 50 轨迹（clean 来源待核验）  ·  10月16日 00:58 北京时间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197864"/>
            <a:ext cx="3328416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289304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训练计划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554480"/>
            <a:ext cx="2999232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3047"/>
                </a:solidFill>
                <a:latin typeface="Microsoft YaHei"/>
                <a:ea typeface="Microsoft YaHei"/>
              </a:rPr>
              <a:t>1 epoch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965960"/>
            <a:ext cx="299923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7386"/>
                </a:solidFill>
                <a:latin typeface="Microsoft YaHei"/>
                <a:ea typeface="Microsoft YaHei"/>
              </a:rPr>
              <a:t>保持动作专家训练与辅助目标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1197864"/>
            <a:ext cx="3328416" cy="1033271"/>
          </a:xfrm>
          <a:prstGeom prst="roundRect">
            <a:avLst>
              <a:gd name="adj" fmla="val 10000"/>
            </a:avLst>
          </a:prstGeom>
          <a:solidFill>
            <a:srgbClr val="E5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78224" y="1289304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单轮计算预算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1554480"/>
            <a:ext cx="2999232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87E74"/>
                </a:solidFill>
                <a:latin typeface="Microsoft YaHei"/>
                <a:ea typeface="Microsoft YaHei"/>
              </a:rPr>
              <a:t>≈12 小时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1965960"/>
            <a:ext cx="299923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7386"/>
                </a:solidFill>
                <a:latin typeface="Microsoft YaHei"/>
                <a:ea typeface="Microsoft YaHei"/>
              </a:rPr>
              <a:t>按近期 100 步实测速度外推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1197864"/>
            <a:ext cx="3328416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52944" y="1289304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当前训练吞吐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1554480"/>
            <a:ext cx="2999232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83047"/>
                </a:solidFill>
                <a:latin typeface="Microsoft YaHei"/>
                <a:ea typeface="Microsoft YaHei"/>
              </a:rPr>
              <a:t>12.7 样本 /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1965960"/>
            <a:ext cx="299923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7386"/>
                </a:solidFill>
                <a:latin typeface="Microsoft YaHei"/>
                <a:ea typeface="Microsoft YaHei"/>
              </a:rPr>
              <a:t>全局 batch 96 · 7.53 秒 / 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63072" y="1197864"/>
            <a:ext cx="3328416" cy="103327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27664" y="1289304"/>
            <a:ext cx="299923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资源观察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27664" y="1554480"/>
            <a:ext cx="2999232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3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83047"/>
                </a:solidFill>
                <a:latin typeface="Microsoft YaHei"/>
                <a:ea typeface="Microsoft YaHei"/>
              </a:rPr>
              <a:t>显存紧 · 利用率低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27664" y="1965960"/>
            <a:ext cx="2999232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27386"/>
                </a:solidFill>
                <a:latin typeface="Microsoft YaHei"/>
                <a:ea typeface="Microsoft YaHei"/>
              </a:rPr>
              <a:t>计算未持续跑满，仍有优化空间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2441448"/>
            <a:ext cx="457200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368" y="2441448"/>
            <a:ext cx="4334256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2441448"/>
            <a:ext cx="4407408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2606040"/>
            <a:ext cx="4114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9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047"/>
                </a:solidFill>
                <a:latin typeface="Microsoft YaHei"/>
                <a:ea typeface="Microsoft YaHei"/>
              </a:rPr>
              <a:t>01  训练什么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13248" y="2606040"/>
            <a:ext cx="4114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9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047"/>
                </a:solidFill>
                <a:latin typeface="Microsoft YaHei"/>
                <a:ea typeface="Microsoft YaHei"/>
              </a:rPr>
              <a:t>02  速度与实验进度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606040"/>
            <a:ext cx="41148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69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83047"/>
                </a:solidFill>
                <a:latin typeface="Microsoft YaHei"/>
                <a:ea typeface="Microsoft YaHei"/>
              </a:rPr>
              <a:t>03  八卡资源利用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990088"/>
            <a:ext cx="420624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386"/>
                </a:solidFill>
                <a:latin typeface="Microsoft YaHei"/>
                <a:ea typeface="Microsoft YaHei"/>
              </a:rPr>
              <a:t>在指定 6B 预训练模型上，先练动作决策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337560"/>
            <a:ext cx="4206240" cy="758952"/>
          </a:xfrm>
          <a:prstGeom prst="roundRect">
            <a:avLst>
              <a:gd name="adj" fmla="val 10000"/>
            </a:avLst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429000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87E74"/>
                </a:solidFill>
                <a:latin typeface="Microsoft YaHei"/>
                <a:ea typeface="Microsoft YaHei"/>
              </a:rPr>
              <a:t>更新参数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429000"/>
            <a:ext cx="3090672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83047"/>
                </a:solidFill>
                <a:latin typeface="Microsoft YaHei"/>
                <a:ea typeface="Microsoft YaHei"/>
              </a:rPr>
              <a:t>动作专家、状态 / 动作投影</a:t>
            </a:r>
          </a:p>
          <a:p>
            <a:pPr algn="l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183047"/>
                </a:solidFill>
                <a:latin typeface="Microsoft YaHei"/>
                <a:ea typeface="Microsoft YaHei"/>
              </a:rPr>
              <a:t>深度 / 视频查询、共享投影、对齐头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187952"/>
            <a:ext cx="4206240" cy="713232"/>
          </a:xfrm>
          <a:prstGeom prst="roundRect">
            <a:avLst>
              <a:gd name="adj" fmla="val 10000"/>
            </a:avLst>
          </a:pr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288536"/>
            <a:ext cx="8229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27386"/>
                </a:solidFill>
                <a:latin typeface="Microsoft YaHei"/>
                <a:ea typeface="Microsoft YaHei"/>
              </a:rPr>
              <a:t>冻结参数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7632" y="4288536"/>
            <a:ext cx="3090672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3047"/>
                </a:solidFill>
                <a:latin typeface="Microsoft YaHei"/>
                <a:ea typeface="Microsoft YaHei"/>
              </a:rPr>
              <a:t>视觉语言骨干（VLM）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3047"/>
                </a:solidFill>
                <a:latin typeface="Microsoft YaHei"/>
                <a:ea typeface="Microsoft YaHei"/>
              </a:rPr>
              <a:t>深度 / 视频教师；仍参与计算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5020056"/>
            <a:ext cx="420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83047"/>
                </a:solidFill>
                <a:latin typeface="Microsoft YaHei"/>
                <a:ea typeface="Microsoft YaHei"/>
              </a:rPr>
              <a:t>目标：根据图像、指令与状态，预测未来 50 步动作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276088"/>
            <a:ext cx="420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83047"/>
                </a:solidFill>
                <a:latin typeface="Microsoft YaHei"/>
                <a:ea typeface="Microsoft YaHei"/>
              </a:rPr>
              <a:t>保留当前 / 未来深度、视频辅助损失（各 0.004）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559552"/>
            <a:ext cx="420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83047"/>
                </a:solidFill>
                <a:latin typeface="Microsoft YaHei"/>
                <a:ea typeface="Microsoft YaHei"/>
              </a:rPr>
              <a:t>每卡 12 × 8 卡 × 梯度累计 1 = 有效 batch 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824728"/>
            <a:ext cx="420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2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183047"/>
                </a:solidFill>
                <a:latin typeface="Microsoft YaHei"/>
                <a:ea typeface="Microsoft YaHei"/>
              </a:rPr>
              <a:t>基础 LR 5e-5 · warmup 2% · 余弦下降至 1e-5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099048"/>
            <a:ext cx="4206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87E74"/>
                </a:solidFill>
                <a:latin typeface="Microsoft YaHei"/>
                <a:ea typeface="Microsoft YaHei"/>
              </a:rPr>
              <a:t>梯度检查点开 · 混合精度开 · epoch 末保存至 OBS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8" y="2990088"/>
            <a:ext cx="39684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386"/>
                </a:solidFill>
                <a:latin typeface="Microsoft YaHei"/>
                <a:ea typeface="Microsoft YaHei"/>
              </a:rPr>
              <a:t>同样 5717 步 / 轮；近期训练持续推进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3248" y="3383280"/>
            <a:ext cx="950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3047"/>
                </a:solidFill>
                <a:latin typeface="Microsoft YaHei"/>
                <a:ea typeface="Microsoft YaHei"/>
              </a:rPr>
              <a:t>优化前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3383280"/>
            <a:ext cx="2596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627386"/>
                </a:solidFill>
                <a:latin typeface="Microsoft YaHei"/>
                <a:ea typeface="Microsoft YaHei"/>
              </a:rPr>
              <a:t>12.27 秒/步  ≈ 19.5 小时/轮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13248" y="3675887"/>
            <a:ext cx="2468880" cy="137160"/>
          </a:xfrm>
          <a:prstGeom prst="roundRect">
            <a:avLst>
              <a:gd name="adj" fmla="val 10000"/>
            </a:avLst>
          </a:prstGeom>
          <a:solidFill>
            <a:srgbClr val="AAB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28431" y="3630168"/>
            <a:ext cx="135331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386"/>
                </a:solidFill>
                <a:latin typeface="Microsoft YaHei"/>
                <a:ea typeface="Microsoft YaHei"/>
              </a:rPr>
              <a:t>500 步计时窗口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3248" y="3977639"/>
            <a:ext cx="95097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83047"/>
                </a:solidFill>
                <a:latin typeface="Microsoft YaHei"/>
                <a:ea typeface="Microsoft YaHei"/>
              </a:rPr>
              <a:t>当前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84848" y="3977639"/>
            <a:ext cx="2596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087E74"/>
                </a:solidFill>
                <a:latin typeface="Microsoft YaHei"/>
                <a:ea typeface="Microsoft YaHei"/>
              </a:rPr>
              <a:t>7.53 秒/步  ≈ 12.0 小时/轮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13248" y="4270248"/>
            <a:ext cx="1514884" cy="137160"/>
          </a:xfrm>
          <a:prstGeom prst="roundRect">
            <a:avLst>
              <a:gd name="adj" fmla="val 10000"/>
            </a:avLst>
          </a:prstGeom>
          <a:solidFill>
            <a:srgbClr val="0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28431" y="4224528"/>
            <a:ext cx="135331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386"/>
                </a:solidFill>
                <a:latin typeface="Microsoft YaHei"/>
                <a:ea typeface="Microsoft YaHei"/>
              </a:rPr>
              <a:t>100 步计时窗口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3248" y="4517136"/>
            <a:ext cx="3968496" cy="3931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44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E74"/>
                </a:solidFill>
                <a:latin typeface="Microsoft YaHei"/>
                <a:ea typeface="Microsoft YaHei"/>
              </a:rPr>
              <a:t>每步耗时减少约 39%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13248" y="4901184"/>
            <a:ext cx="39684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27386"/>
                </a:solidFill>
                <a:latin typeface="Microsoft YaHei"/>
                <a:ea typeface="Microsoft YaHei"/>
              </a:rPr>
              <a:t>视频读取优化后实测提速；不同运行窗口对比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13248" y="5230368"/>
            <a:ext cx="3968496" cy="2651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83047"/>
                </a:solidFill>
                <a:latin typeface="Microsoft YaHei"/>
                <a:ea typeface="Microsoft YaHei"/>
              </a:rPr>
              <a:t>当前 128 / 5717 步  ·  2.2%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13248" y="5550408"/>
            <a:ext cx="3968496" cy="91440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13248" y="5550408"/>
            <a:ext cx="88852" cy="91440"/>
          </a:xfrm>
          <a:prstGeom prst="roundRect">
            <a:avLst>
              <a:gd name="adj" fmla="val 10000"/>
            </a:avLst>
          </a:prstGeom>
          <a:solidFill>
            <a:srgbClr val="0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13248" y="5760720"/>
            <a:ext cx="396849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627386"/>
                </a:solidFill>
                <a:latin typeface="Microsoft YaHei"/>
                <a:ea typeface="Microsoft YaHei"/>
              </a:rPr>
              <a:t>动作 loss 0.185 · 尚无任务成功率评测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13248" y="6016752"/>
            <a:ext cx="396849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09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83047"/>
                </a:solidFill>
                <a:latin typeface="Microsoft YaHei"/>
                <a:ea typeface="Microsoft YaHei"/>
              </a:rPr>
              <a:t>预计剩余约 11.7 小时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13248" y="6309360"/>
            <a:ext cx="396849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627386"/>
                </a:solidFill>
                <a:latin typeface="Microsoft YaHei"/>
                <a:ea typeface="Microsoft YaHei"/>
              </a:rPr>
              <a:t>不含启动、保存与上传；短期速度仍可能变化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2990088"/>
            <a:ext cx="404164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27386"/>
                </a:solidFill>
                <a:latin typeface="Microsoft YaHei"/>
                <a:ea typeface="Microsoft YaHei"/>
              </a:rPr>
              <a:t>8 × Ascend 910B1 · 每卡 64 GiB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3346704"/>
            <a:ext cx="192024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9C5B11"/>
                </a:solidFill>
                <a:latin typeface="Microsoft YaHei"/>
                <a:ea typeface="Microsoft YaHei"/>
              </a:rPr>
              <a:t>6.8%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070080" y="3346704"/>
            <a:ext cx="1938528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83047"/>
                </a:solidFill>
                <a:latin typeface="Microsoft YaHei"/>
                <a:ea typeface="Microsoft YaHei"/>
              </a:rPr>
              <a:t>96–97%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66960" y="3840480"/>
            <a:ext cx="19202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AI Core 采样均值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070080" y="38404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27386"/>
                </a:solidFill>
                <a:latin typeface="Microsoft YaHei"/>
                <a:ea typeface="Microsoft YaHei"/>
              </a:rPr>
              <a:t>显存占用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66960" y="4197096"/>
            <a:ext cx="40416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627386"/>
                </a:solidFill>
                <a:latin typeface="Microsoft YaHei"/>
                <a:ea typeface="Microsoft YaHei"/>
              </a:rPr>
              <a:t>各卡 AI Core 均值（统一 0–100% 刻度）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4462272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0 卡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341864" y="4544568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341864" y="4544568"/>
            <a:ext cx="88879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56848" y="4462272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9.0%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4681728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1 卡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341864" y="4764024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341864" y="4764024"/>
            <a:ext cx="71597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56848" y="4681728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7.2%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66960" y="4901184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2 卡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341864" y="4983480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341864" y="4983480"/>
            <a:ext cx="69128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356848" y="4901184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7.0%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6960" y="5120640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3 卡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341864" y="5202936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341864" y="5202936"/>
            <a:ext cx="95051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356848" y="5120640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9.6%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051792" y="4462272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4 卡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426696" y="4544568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2426696" y="4544568"/>
            <a:ext cx="66659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441680" y="4462272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6.8%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051792" y="4681728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5 卡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2426696" y="4764024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2426696" y="4764024"/>
            <a:ext cx="41970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441680" y="4681728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4.2%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051792" y="4901184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6 卡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2426696" y="4983480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2426696" y="4983480"/>
            <a:ext cx="59253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441680" y="4901184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6.0%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051792" y="5120640"/>
            <a:ext cx="31089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627386"/>
                </a:solidFill>
                <a:latin typeface="Microsoft YaHei"/>
                <a:ea typeface="Microsoft YaHei"/>
              </a:rPr>
              <a:t>7 卡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2426696" y="5202936"/>
            <a:ext cx="987552" cy="64008"/>
          </a:xfrm>
          <a:prstGeom prst="roundRect">
            <a:avLst>
              <a:gd name="adj" fmla="val 10000"/>
            </a:avLst>
          </a:prstGeom>
          <a:solidFill>
            <a:srgbClr val="E3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2426696" y="5202936"/>
            <a:ext cx="48143" cy="64008"/>
          </a:xfrm>
          <a:prstGeom prst="roundRect">
            <a:avLst>
              <a:gd name="adj" fmla="val 10000"/>
            </a:avLst>
          </a:prstGeom>
          <a:solidFill>
            <a:srgbClr val="9C5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441680" y="5120640"/>
            <a:ext cx="521207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196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183047"/>
                </a:solidFill>
                <a:latin typeface="Microsoft YaHei"/>
                <a:ea typeface="Microsoft YaHei"/>
              </a:rPr>
              <a:t>4.9%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66960" y="5458968"/>
            <a:ext cx="404164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C5B11"/>
                </a:solidFill>
                <a:latin typeface="Microsoft YaHei"/>
                <a:ea typeface="Microsoft YaHei"/>
              </a:rPr>
              <a:t>显存接近满 ≠ 计算持续跑满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966960" y="5806440"/>
            <a:ext cx="40416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33"/>
              </a:lnSpc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627386"/>
                </a:solidFill>
                <a:latin typeface="Microsoft YaHei"/>
                <a:ea typeface="Microsoft YaHei"/>
              </a:rPr>
              <a:t>健康均为 OK · 50–57℃ · 约 148–166 W / 卡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966960" y="6071616"/>
            <a:ext cx="4041648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7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627386"/>
                </a:solidFill>
                <a:latin typeface="Microsoft YaHei"/>
                <a:ea typeface="Microsoft YaHei"/>
              </a:rPr>
              <a:t>36 秒 / 8 次采样；读数不等于理论算力利用率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66960" y="6318504"/>
            <a:ext cx="40416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42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27386"/>
                </a:solidFill>
                <a:latin typeface="Microsoft YaHei"/>
                <a:ea typeface="Microsoft YaHei"/>
              </a:rPr>
              <a:t>低利用率的具体原因，仍需性能分析确认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38912" y="6729984"/>
            <a:ext cx="13752576" cy="1042415"/>
          </a:xfrm>
          <a:prstGeom prst="roundRect">
            <a:avLst>
              <a:gd name="adj" fmla="val 10000"/>
            </a:avLst>
          </a:prstGeom>
          <a:solidFill>
            <a:srgbClr val="18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1792" y="6839712"/>
            <a:ext cx="1338681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24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下一步讨论｜先定位等待点，再决定改什么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" y="7178040"/>
            <a:ext cx="43159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D6C1"/>
                </a:solidFill>
                <a:latin typeface="Microsoft YaHei"/>
                <a:ea typeface="Microsoft YaHei"/>
              </a:rPr>
              <a:t>① 分段计时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1792" y="7461504"/>
            <a:ext cx="4315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D8E3ED"/>
                </a:solidFill>
                <a:latin typeface="Microsoft YaHei"/>
                <a:ea typeface="Microsoft YaHei"/>
              </a:rPr>
              <a:t>分开看取数据、计算、通信，优先找等待。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20640" y="7178040"/>
            <a:ext cx="43159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D6C1"/>
                </a:solidFill>
                <a:latin typeface="Microsoft YaHei"/>
                <a:ea typeface="Microsoft YaHei"/>
              </a:rPr>
              <a:t>② 检查 NPU 算子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20640" y="7461504"/>
            <a:ext cx="4315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D8E3ED"/>
                </a:solidFill>
                <a:latin typeface="Microsoft YaHei"/>
                <a:ea typeface="Microsoft YaHei"/>
              </a:rPr>
              <a:t>排查注意力 / MoE 热点，验证融合实现收益。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619488" y="7178040"/>
            <a:ext cx="4315968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D6C1"/>
                </a:solidFill>
                <a:latin typeface="Microsoft YaHei"/>
                <a:ea typeface="Microsoft YaHei"/>
              </a:rPr>
              <a:t>③ 控制试验范围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19488" y="7461504"/>
            <a:ext cx="4315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D8E3ED"/>
                </a:solidFill>
                <a:latin typeface="Microsoft YaHei"/>
                <a:ea typeface="Microsoft YaHei"/>
              </a:rPr>
              <a:t>有显存余量再试少量减少重计算；不盲增 batch。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8912" y="7918704"/>
            <a:ext cx="13752576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27386"/>
                </a:solidFill>
                <a:latin typeface="Microsoft YaHei"/>
                <a:ea typeface="Microsoft YaHei"/>
              </a:rPr>
              <a:t>依据：实际启动配置、train.log / loss.jsonl、npu-smi 连续采样。当前为训练早期观察，最终效果需 randomized 仿真评测。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LingBot-VLA 2.0｜训练策略、速度与资源观察</dc:title>
  <dc:subject>当前一轮训练的团队讨论报告</dc:subject>
  <dc:creator>LingBot 训练实验</dc:creator>
  <cp:keywords>LingBot, RoboTwin, Ascend, 1 epoch,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